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665" r:id="rId5"/>
    <p:sldId id="673" r:id="rId6"/>
    <p:sldId id="680" r:id="rId7"/>
    <p:sldId id="697" r:id="rId8"/>
    <p:sldId id="698" r:id="rId9"/>
    <p:sldId id="699" r:id="rId10"/>
    <p:sldId id="703" r:id="rId11"/>
    <p:sldId id="700" r:id="rId12"/>
    <p:sldId id="701" r:id="rId13"/>
    <p:sldId id="704" r:id="rId14"/>
    <p:sldId id="705" r:id="rId15"/>
    <p:sldId id="702" r:id="rId16"/>
    <p:sldId id="706" r:id="rId17"/>
    <p:sldId id="707" r:id="rId1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2B39"/>
    <a:srgbClr val="004D5A"/>
    <a:srgbClr val="385E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6C1F45-8C5F-44B5-A54B-600511198274}" v="71" dt="2025-09-29T15:24:58.49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D5702-95A7-4E56-A553-8CD09FEEAB86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A3265-C9E5-4BF0-8B19-C1E00BB1ED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607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BDD73-DB74-2746-8EBA-80230E0D6FF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78573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EA869-5E57-4F91-905C-E93CE8533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5DFF08-4B20-4F5A-A1CE-123FFF93F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28F610-4B21-471B-95AF-256341C7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259E7-5C79-4A50-A908-556395AD720C}" type="datetime1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B20C78-D615-43C9-B2E0-0106A0FE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470F64-25EF-4A49-B6F1-403C5D93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287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CDBA8-A27E-488B-A66B-CBDB0AB4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F01D6D-11B0-4587-8C4C-49ACBD131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/>
            </a:lvl3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 err="1"/>
              <a:t>Teddddrcer</a:t>
            </a:r>
            <a:r>
              <a:rPr lang="es-ES"/>
              <a:t>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C66606-4C4B-4A01-864B-5B786F4C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C190-9FF5-43FA-9E38-90652819C1F2}" type="datetime1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A07849-2F64-4926-ACC7-45B07F0C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F60EB-AE8A-4F57-9EAD-F764081E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336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F318D-ECAA-4445-9B35-C0348872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FD2AA8-6D30-44A0-8ACC-88E50F91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57BC33-359B-4908-8FA9-A135F7279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C44E4-BCF1-4377-9495-5BBED47D99E8}" type="datetime1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76544A-5102-4F64-85FB-6B120A4E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F96BD4-7FB6-400B-AE68-8DD9D79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DE45A36-365B-4984-A917-542A41E437EB}"/>
              </a:ext>
            </a:extLst>
          </p:cNvPr>
          <p:cNvSpPr txBox="1">
            <a:spLocks/>
          </p:cNvSpPr>
          <p:nvPr userDrawn="1"/>
        </p:nvSpPr>
        <p:spPr>
          <a:xfrm>
            <a:off x="186620" y="112063"/>
            <a:ext cx="10515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8040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492CA-87B2-497B-982F-09D3C744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9" y="112063"/>
            <a:ext cx="6837636" cy="5847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B03C4C-3430-45A6-9E36-5D9A2E59E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F8896D-C25F-4B7C-B6B3-DA1D3E024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DD54EE-FFDF-41E1-A23E-A20C2EB69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0431C-28DE-44A5-9E7E-AAE68AE18056}" type="datetime1">
              <a:rPr lang="es-CL" smtClean="0"/>
              <a:t>04-12-2025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2DC6BC-1159-487B-8199-EF9B2B2E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7A4E82-F2E3-4E66-98CB-C4DDB95D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319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5DAC5-42DD-4DDF-AF6D-7C35415C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CA38D4-765A-4308-8FDC-1254D3F2D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5092D2-77CA-48E2-B77D-F36797AB9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A32540-34D5-4C91-B9AE-36375A059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F9BA8E-D964-4D08-A74F-EA4F8992D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0F62F1C-F7AA-4324-93A6-EBA25D3B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1B50-5600-4856-A589-B8B03258E30D}" type="datetime1">
              <a:rPr lang="es-CL" smtClean="0"/>
              <a:t>04-12-2025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F7B321B-2A33-400E-831C-AF519D6D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AA48238-AA13-4A68-8006-8D0AE75B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5525CAD-D17F-4F5B-B1AB-EA733E30F62E}"/>
              </a:ext>
            </a:extLst>
          </p:cNvPr>
          <p:cNvSpPr txBox="1">
            <a:spLocks/>
          </p:cNvSpPr>
          <p:nvPr userDrawn="1"/>
        </p:nvSpPr>
        <p:spPr>
          <a:xfrm>
            <a:off x="186620" y="112063"/>
            <a:ext cx="10515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769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7A4AF-49F7-464E-971D-17F6DA9E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9DD096-0955-4F69-9DE1-DF3F5153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3366-4B8D-459D-8D07-0B37B45DBD96}" type="datetime1">
              <a:rPr lang="es-CL" smtClean="0"/>
              <a:t>04-12-2025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1ADAD73-BEF3-44AF-B355-25D5EA60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C4E5626-65AE-46D0-805A-EC34962B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615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369182F-11BE-4416-9130-B46D64A8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3FED-2105-4BC2-95FE-8740C1F60BF3}" type="datetime1">
              <a:rPr lang="es-CL" smtClean="0"/>
              <a:t>04-12-2025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34095E-FC32-4647-81BA-D77A81A0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5BBA37-71CC-4E58-9CA5-4EDCD9B1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90CEDB0-828C-4CEC-A80C-66105C05E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20" y="112063"/>
            <a:ext cx="10515600" cy="5847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661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99693-F0D9-472B-B117-206F657F0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B85435-6697-4E93-864C-D9ED8283F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70C372-A751-447E-81F3-BB878261C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0A985A-026D-4A12-8B46-466D8CDC7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B94A-36D8-4311-8D57-A9ABC6590372}" type="datetime1">
              <a:rPr lang="es-CL" smtClean="0"/>
              <a:t>04-12-2025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B50281-F6C0-4B9A-8D1D-D800119A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3DF34C-9676-4551-AB12-6260F293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707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24B16-FE39-45E3-8E1D-B1F531DF5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1BFD8C-F2E0-4795-A641-FA4614F36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611EB1-5A5D-4FAF-9D33-D0D20AC64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A1E19A-96DF-4E63-B4B2-9A334BA6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9EA1-F8C4-49EF-9BB5-8D6800BE294D}" type="datetime1">
              <a:rPr lang="es-CL" smtClean="0"/>
              <a:t>04-12-2025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D80FC1-9EC6-4324-8FEA-0D7B788C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EED2E6-9184-49DB-AEEF-5E13585A2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404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F980D-0695-442A-84F4-32C285F0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DB64F5-5118-48A7-B4C9-8B631B661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AEBD77-A50B-4E91-B0BF-1CD41AEB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6974-88F9-4DAC-A493-010D2E09057C}" type="datetime1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B1882F-DBE4-43C1-B2F6-FFE93F11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3F2E94-0F57-4035-A25F-6B1BFD2C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755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1C38A4-0029-4C00-8053-0D7878250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ACB1E0-C7F4-4665-9400-71B35A420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824B0E-90DD-404B-B52D-33D4AB4D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6ABA-13BB-46CE-992C-4E6D52EB581D}" type="datetime1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984225-5FC9-43A5-85FB-4BAF1E6C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49D45-20E6-41D5-A895-B8B90205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600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7372EC-0768-1549-8353-8D9E8F6DD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26" y="935916"/>
            <a:ext cx="11888096" cy="576609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574E762-3713-48A6-9379-12FC8482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21" y="112063"/>
            <a:ext cx="5909380" cy="58477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165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378396-6D2A-43F1-9903-48DB12996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665" y="869183"/>
            <a:ext cx="10751371" cy="5055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2FC432-BC28-481A-9CB7-486C403D4D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C9460-F295-4FE9-B4F9-AF4AB6F447FD}" type="datetime1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7A068A-24FC-46FE-9F3E-B3AF2B0FB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17505-A9F4-4D8D-B0B8-767BF5E26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78F51-709F-42A5-9873-6CB97C6EAF58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121E52FC-66ED-4616-9BB0-5D1C1DA24A3E}"/>
              </a:ext>
            </a:extLst>
          </p:cNvPr>
          <p:cNvSpPr/>
          <p:nvPr userDrawn="1"/>
        </p:nvSpPr>
        <p:spPr>
          <a:xfrm>
            <a:off x="103665" y="580479"/>
            <a:ext cx="5121478" cy="171466"/>
          </a:xfrm>
          <a:prstGeom prst="parallelogram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1DD7F9-9A25-4F20-9B2E-8B13EB1DF954}"/>
              </a:ext>
            </a:extLst>
          </p:cNvPr>
          <p:cNvSpPr/>
          <p:nvPr userDrawn="1"/>
        </p:nvSpPr>
        <p:spPr>
          <a:xfrm>
            <a:off x="130628" y="46886"/>
            <a:ext cx="5965371" cy="584775"/>
          </a:xfrm>
          <a:prstGeom prst="rect">
            <a:avLst/>
          </a:prstGeom>
          <a:solidFill>
            <a:srgbClr val="3C3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280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401F42C-A00E-4ADB-918B-C4B8ED1F1ECE}"/>
              </a:ext>
            </a:extLst>
          </p:cNvPr>
          <p:cNvSpPr/>
          <p:nvPr userDrawn="1"/>
        </p:nvSpPr>
        <p:spPr>
          <a:xfrm>
            <a:off x="0" y="47363"/>
            <a:ext cx="159657" cy="706808"/>
          </a:xfrm>
          <a:prstGeom prst="rect">
            <a:avLst/>
          </a:prstGeom>
          <a:solidFill>
            <a:srgbClr val="046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E6D5F26-63C5-47D0-A9FD-0BFA2E96489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49155" y="86551"/>
            <a:ext cx="1812217" cy="314216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DF6F2EF-1437-4DFD-88F4-E5C9E41E3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20" y="112063"/>
            <a:ext cx="10515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76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D3CB6D-1925-BC43-8513-790D56FDE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333" y="1140882"/>
            <a:ext cx="3619500" cy="3060700"/>
          </a:xfrm>
          <a:prstGeom prst="rect">
            <a:avLst/>
          </a:prstGeom>
        </p:spPr>
      </p:pic>
      <p:sp>
        <p:nvSpPr>
          <p:cNvPr id="4" name="Triángulo 3">
            <a:extLst>
              <a:ext uri="{FF2B5EF4-FFF2-40B4-BE49-F238E27FC236}">
                <a16:creationId xmlns:a16="http://schemas.microsoft.com/office/drawing/2014/main" id="{6DD2E108-7206-D746-84B9-3C1E5FDAAF05}"/>
              </a:ext>
            </a:extLst>
          </p:cNvPr>
          <p:cNvSpPr/>
          <p:nvPr/>
        </p:nvSpPr>
        <p:spPr>
          <a:xfrm>
            <a:off x="6132513" y="3429000"/>
            <a:ext cx="5269265" cy="3429000"/>
          </a:xfrm>
          <a:prstGeom prst="triangle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Pentágono 5">
            <a:extLst>
              <a:ext uri="{FF2B5EF4-FFF2-40B4-BE49-F238E27FC236}">
                <a16:creationId xmlns:a16="http://schemas.microsoft.com/office/drawing/2014/main" id="{C3981CA4-CAC4-4541-B19B-251AAC2A1DBA}"/>
              </a:ext>
            </a:extLst>
          </p:cNvPr>
          <p:cNvSpPr/>
          <p:nvPr/>
        </p:nvSpPr>
        <p:spPr>
          <a:xfrm>
            <a:off x="0" y="316089"/>
            <a:ext cx="11401778" cy="6265333"/>
          </a:xfrm>
          <a:prstGeom prst="homePlate">
            <a:avLst/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Pentágono 12">
            <a:extLst>
              <a:ext uri="{FF2B5EF4-FFF2-40B4-BE49-F238E27FC236}">
                <a16:creationId xmlns:a16="http://schemas.microsoft.com/office/drawing/2014/main" id="{EA5EE60D-4DE6-0844-A149-CBCDEDC1577F}"/>
              </a:ext>
            </a:extLst>
          </p:cNvPr>
          <p:cNvSpPr/>
          <p:nvPr/>
        </p:nvSpPr>
        <p:spPr>
          <a:xfrm>
            <a:off x="0" y="0"/>
            <a:ext cx="10547131" cy="6858000"/>
          </a:xfrm>
          <a:prstGeom prst="homePlate">
            <a:avLst/>
          </a:prstGeom>
          <a:solidFill>
            <a:srgbClr val="046A79">
              <a:alpha val="69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4A2C284-6C5D-EF40-B78B-E3363AD25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06" y="174977"/>
            <a:ext cx="1493661" cy="1263061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8FDDAE5-0842-FA4F-8CFC-25B215473F72}"/>
              </a:ext>
            </a:extLst>
          </p:cNvPr>
          <p:cNvSpPr txBox="1"/>
          <p:nvPr/>
        </p:nvSpPr>
        <p:spPr>
          <a:xfrm>
            <a:off x="169789" y="1878419"/>
            <a:ext cx="35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>
                <a:solidFill>
                  <a:schemeClr val="bg1"/>
                </a:solidFill>
                <a:latin typeface="Trebuchet MS" panose="020B0703020202090204" pitchFamily="34" charset="0"/>
              </a:rPr>
              <a:t>INGENIERÍA CIVIL ELECTRÓNICA</a:t>
            </a:r>
            <a:endParaRPr lang="es-CL" b="1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83A171B-18F6-9546-9946-99E3A46C07E6}"/>
              </a:ext>
            </a:extLst>
          </p:cNvPr>
          <p:cNvSpPr txBox="1"/>
          <p:nvPr/>
        </p:nvSpPr>
        <p:spPr>
          <a:xfrm>
            <a:off x="154517" y="2307097"/>
            <a:ext cx="5467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Trebuchet MS" panose="020B0703020202090204" pitchFamily="34" charset="0"/>
              </a:rPr>
              <a:t>FACULTAD DE CIENCIAS, INGENIERÍA  Y TECNOLOGÍA</a:t>
            </a:r>
            <a:endParaRPr lang="es-CL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21472CA-A6B7-A946-A849-DFC200B1C5E5}"/>
              </a:ext>
            </a:extLst>
          </p:cNvPr>
          <p:cNvSpPr/>
          <p:nvPr/>
        </p:nvSpPr>
        <p:spPr>
          <a:xfrm>
            <a:off x="215429" y="2224893"/>
            <a:ext cx="6230527" cy="45719"/>
          </a:xfrm>
          <a:prstGeom prst="rect">
            <a:avLst/>
          </a:prstGeom>
          <a:solidFill>
            <a:srgbClr val="FFC000"/>
          </a:solidFill>
          <a:ln>
            <a:solidFill>
              <a:srgbClr val="3D3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C00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31C66AD-3D91-2A46-B464-0EB648C655FB}"/>
              </a:ext>
            </a:extLst>
          </p:cNvPr>
          <p:cNvSpPr txBox="1"/>
          <p:nvPr/>
        </p:nvSpPr>
        <p:spPr>
          <a:xfrm>
            <a:off x="10874913" y="316089"/>
            <a:ext cx="10438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>
                <a:solidFill>
                  <a:srgbClr val="046A79"/>
                </a:solidFill>
                <a:latin typeface="Trebuchet MS" panose="020B0703020202090204" pitchFamily="34" charset="0"/>
              </a:rPr>
              <a:t>2025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F9A22E1-2806-C147-97D0-67BE45FF7C0E}"/>
              </a:ext>
            </a:extLst>
          </p:cNvPr>
          <p:cNvSpPr txBox="1"/>
          <p:nvPr/>
        </p:nvSpPr>
        <p:spPr>
          <a:xfrm>
            <a:off x="2553269" y="3102198"/>
            <a:ext cx="6480148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endParaRPr lang="es-CL" sz="32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AC6A713-20AC-4E44-AEB4-22642F40035B}"/>
              </a:ext>
            </a:extLst>
          </p:cNvPr>
          <p:cNvSpPr txBox="1"/>
          <p:nvPr/>
        </p:nvSpPr>
        <p:spPr>
          <a:xfrm>
            <a:off x="390760" y="4832680"/>
            <a:ext cx="51322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b="1" dirty="0">
                <a:solidFill>
                  <a:schemeClr val="bg1"/>
                </a:solidFill>
                <a:latin typeface="Trebuchet MS" panose="020B0703020202090204" pitchFamily="34" charset="0"/>
              </a:rPr>
              <a:t>Nombre: Moya, Arancibia, Grangier </a:t>
            </a:r>
          </a:p>
          <a:p>
            <a:r>
              <a:rPr lang="es-MX" sz="2200" b="1" dirty="0">
                <a:solidFill>
                  <a:schemeClr val="bg1"/>
                </a:solidFill>
                <a:latin typeface="Trebuchet MS" panose="020B0703020202090204" pitchFamily="34" charset="0"/>
              </a:rPr>
              <a:t>Profesor: Oscar Loyola</a:t>
            </a:r>
          </a:p>
          <a:p>
            <a:r>
              <a:rPr lang="es-MX" sz="2200" b="1" dirty="0">
                <a:solidFill>
                  <a:schemeClr val="bg1"/>
                </a:solidFill>
                <a:latin typeface="Trebuchet MS" panose="020B0703020202090204" pitchFamily="34" charset="0"/>
              </a:rPr>
              <a:t>Fecha: 4/12/2025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5B71D54-2B12-0222-7D87-5B241E9AE30A}"/>
              </a:ext>
            </a:extLst>
          </p:cNvPr>
          <p:cNvSpPr txBox="1"/>
          <p:nvPr/>
        </p:nvSpPr>
        <p:spPr>
          <a:xfrm>
            <a:off x="2054942" y="3394585"/>
            <a:ext cx="7737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</a:rPr>
              <a:t>Contador de línea virtual</a:t>
            </a:r>
            <a:endParaRPr lang="es-CL" sz="3200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574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EFA3F-187F-45A8-8CF2-CB76357E5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9" y="112063"/>
            <a:ext cx="6837636" cy="5847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sz="3200" dirty="0"/>
              <a:t>Introducción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8757E0-C93E-4A02-9588-AD275DF51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678F51-709F-42A5-9873-6CB97C6EAF58}" type="slidenum">
              <a:rPr lang="es-CL" smtClean="0"/>
              <a:pPr>
                <a:spcAft>
                  <a:spcPts val="600"/>
                </a:spcAft>
              </a:pPr>
              <a:t>2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B711D1-DB07-2686-9BC4-BC8A8A9B11A7}"/>
              </a:ext>
            </a:extLst>
          </p:cNvPr>
          <p:cNvSpPr txBox="1"/>
          <p:nvPr/>
        </p:nvSpPr>
        <p:spPr>
          <a:xfrm>
            <a:off x="1818968" y="1927122"/>
            <a:ext cx="8976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Este proyecto desarrolla un sistema capaz de detectar y contar personas y vehículos. Para ello se utiliza un video de tráfico y un modelo de inteligencia artificial YOLOv8, que identifica objetos, los sigue cuadro a cuadro y determina si cruzan una línea virtual.</a:t>
            </a:r>
            <a:endParaRPr lang="es-CL" sz="24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95806A6-B070-5DE8-FACF-A3DCF070E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72" y="3901385"/>
            <a:ext cx="4663256" cy="263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69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5B89-6F5E-1A82-B0A3-43B21021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173FC957-282A-139E-FE02-1076F3D0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19" y="149408"/>
            <a:ext cx="6837636" cy="58477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3200" dirty="0"/>
              <a:t>Problema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2E49DD-D886-D7AC-A144-F1F5E6AF8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5876" y="6369484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678F51-709F-42A5-9873-6CB97C6EAF58}" type="slidenum">
              <a:rPr lang="es-CL" smtClean="0"/>
              <a:pPr>
                <a:spcAft>
                  <a:spcPts val="600"/>
                </a:spcAft>
              </a:pPr>
              <a:t>3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D22D0FC-0F86-8C9A-63BB-86899C325ADB}"/>
              </a:ext>
            </a:extLst>
          </p:cNvPr>
          <p:cNvSpPr txBox="1"/>
          <p:nvPr/>
        </p:nvSpPr>
        <p:spPr>
          <a:xfrm>
            <a:off x="420299" y="1868833"/>
            <a:ext cx="51545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En muchos entornos se necesita contar personas y vehículos para seguridad, control de acceso y análisis de flujo.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El conteo manual es impreciso, lento y no escalable.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/>
              <a:t>Cuando varias personas pasan juntas, o vehículos grandes entran, los sistemas tradicionales fallan.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F4961E7-4EFB-61C3-ACC5-78A2FD0A1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90" y="2012883"/>
            <a:ext cx="4214520" cy="283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5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72AFF-53D4-DFCD-E22F-597103EE0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9" y="112063"/>
            <a:ext cx="3185846" cy="584775"/>
          </a:xfrm>
        </p:spPr>
        <p:txBody>
          <a:bodyPr/>
          <a:lstStyle/>
          <a:p>
            <a:r>
              <a:rPr lang="es-ES" dirty="0"/>
              <a:t>Motivación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BEA9CE-0591-DAD8-858F-BF39B554C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7259" y="2005012"/>
            <a:ext cx="11373464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s-ES" dirty="0"/>
              <a:t>Queríamos crear un sistema capaz de:</a:t>
            </a:r>
          </a:p>
          <a:p>
            <a:pPr marL="457200" lvl="1" indent="0">
              <a:buNone/>
            </a:pPr>
            <a:endParaRPr lang="es-ES" dirty="0"/>
          </a:p>
          <a:p>
            <a:pPr lvl="1"/>
            <a:r>
              <a:rPr lang="es-ES" dirty="0"/>
              <a:t>Reconocer personas y vehículos en movimiento.</a:t>
            </a:r>
          </a:p>
          <a:p>
            <a:pPr lvl="1"/>
            <a:r>
              <a:rPr lang="es-ES" dirty="0"/>
              <a:t>Contarlos automáticamente según su dirección.</a:t>
            </a:r>
          </a:p>
          <a:p>
            <a:pPr lvl="1"/>
            <a:r>
              <a:rPr lang="es-ES" dirty="0"/>
              <a:t>Funcionar en tiempo real.</a:t>
            </a:r>
          </a:p>
          <a:p>
            <a:pPr lvl="1"/>
            <a:r>
              <a:rPr lang="es-ES" dirty="0"/>
              <a:t>Exploración práctica de procesamiento de imágenes + IA + YOLOv8 + </a:t>
            </a:r>
            <a:r>
              <a:rPr lang="es-ES" dirty="0" err="1"/>
              <a:t>OpenCV</a:t>
            </a:r>
            <a:r>
              <a:rPr lang="es-ES" dirty="0"/>
              <a:t>.</a:t>
            </a:r>
          </a:p>
          <a:p>
            <a:pPr lvl="1"/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10F915-0AAC-8357-0D30-D360FED4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560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E02AD-C8C5-B6DF-C2B5-D78F87E98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581EEB-F781-EDD3-8FA8-7B049BB47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23" y="1174673"/>
            <a:ext cx="10874477" cy="2954875"/>
          </a:xfrm>
        </p:spPr>
        <p:txBody>
          <a:bodyPr>
            <a:normAutofit/>
          </a:bodyPr>
          <a:lstStyle/>
          <a:p>
            <a:r>
              <a:rPr lang="es-ES" dirty="0"/>
              <a:t>Implementar un sistema de detección y conteo con IA.</a:t>
            </a:r>
          </a:p>
          <a:p>
            <a:r>
              <a:rPr lang="es-ES" dirty="0"/>
              <a:t>Diferenciar personas y vehículos.</a:t>
            </a:r>
          </a:p>
          <a:p>
            <a:r>
              <a:rPr lang="es-ES" dirty="0"/>
              <a:t>Identificar entradas y salidas mediante una línea de conteo virtual.</a:t>
            </a:r>
          </a:p>
          <a:p>
            <a:r>
              <a:rPr lang="es-ES" dirty="0"/>
              <a:t>Optimizar la ejecución para que funcione fluido.</a:t>
            </a:r>
          </a:p>
          <a:p>
            <a:r>
              <a:rPr lang="es-ES" dirty="0"/>
              <a:t>Mostrar resultados en pantalla en tiempo real.</a:t>
            </a:r>
          </a:p>
          <a:p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D1EBFB-6A35-649A-6E38-4FA73EBC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5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D47A6E8-EDBB-932E-79F0-1952326E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816" y="3752905"/>
            <a:ext cx="4214520" cy="283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737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5A8B4-A882-4DDE-F2F0-8EEE9F1F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408" y="3042076"/>
            <a:ext cx="4569192" cy="584775"/>
          </a:xfrm>
        </p:spPr>
        <p:txBody>
          <a:bodyPr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PARTE TÉCNICA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2F18CA-404C-22CF-7489-8168A402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4305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E9B43-C4CB-EE61-0EB4-6666570A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7" y="129667"/>
            <a:ext cx="6837636" cy="584775"/>
          </a:xfrm>
        </p:spPr>
        <p:txBody>
          <a:bodyPr/>
          <a:lstStyle/>
          <a:p>
            <a:r>
              <a:rPr lang="es-CL" dirty="0"/>
              <a:t>Arquitectura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DFFC5D-CCB1-30EF-6A97-72D62FDE4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6084" y="989884"/>
            <a:ext cx="9072716" cy="4683330"/>
          </a:xfrm>
        </p:spPr>
        <p:txBody>
          <a:bodyPr>
            <a:noAutofit/>
          </a:bodyPr>
          <a:lstStyle/>
          <a:p>
            <a:r>
              <a:rPr lang="es-ES" sz="2400" b="1" dirty="0"/>
              <a:t>Entrada:</a:t>
            </a:r>
            <a:r>
              <a:rPr lang="es-ES" sz="2400" dirty="0"/>
              <a:t> video o cámara en tiempo real.</a:t>
            </a:r>
          </a:p>
          <a:p>
            <a:r>
              <a:rPr lang="es-ES" sz="2400" b="1" dirty="0"/>
              <a:t>Modelo YOLOv8</a:t>
            </a:r>
            <a:r>
              <a:rPr lang="es-ES" sz="2400" dirty="0"/>
              <a:t>:</a:t>
            </a:r>
          </a:p>
          <a:p>
            <a:pPr lvl="1"/>
            <a:r>
              <a:rPr lang="es-ES" dirty="0"/>
              <a:t>Detecta </a:t>
            </a:r>
            <a:r>
              <a:rPr lang="es-ES" dirty="0" err="1"/>
              <a:t>bounding</a:t>
            </a:r>
            <a:r>
              <a:rPr lang="es-ES" dirty="0"/>
              <a:t> boxes, clases y características.</a:t>
            </a:r>
          </a:p>
          <a:p>
            <a:r>
              <a:rPr lang="es-ES" sz="2400" b="1" dirty="0" err="1"/>
              <a:t>Tracker</a:t>
            </a:r>
            <a:r>
              <a:rPr lang="es-ES" sz="2400" b="1" dirty="0"/>
              <a:t> interno de YOLO</a:t>
            </a:r>
            <a:r>
              <a:rPr lang="es-ES" sz="2400" dirty="0"/>
              <a:t>:</a:t>
            </a:r>
          </a:p>
          <a:p>
            <a:pPr lvl="1"/>
            <a:r>
              <a:rPr lang="es-ES" dirty="0"/>
              <a:t>Asigna ID único por objeto.</a:t>
            </a:r>
          </a:p>
          <a:p>
            <a:r>
              <a:rPr lang="es-ES" sz="2400" b="1" dirty="0"/>
              <a:t>Lógica propia</a:t>
            </a:r>
            <a:r>
              <a:rPr lang="es-ES" sz="2400" dirty="0"/>
              <a:t>:</a:t>
            </a:r>
          </a:p>
          <a:p>
            <a:pPr lvl="1"/>
            <a:r>
              <a:rPr lang="es-ES" dirty="0"/>
              <a:t>Línea virtual.</a:t>
            </a:r>
          </a:p>
          <a:p>
            <a:pPr lvl="1"/>
            <a:r>
              <a:rPr lang="es-ES" dirty="0"/>
              <a:t>Seguimiento de trayectoria.</a:t>
            </a:r>
          </a:p>
          <a:p>
            <a:pPr lvl="1"/>
            <a:r>
              <a:rPr lang="es-ES" dirty="0"/>
              <a:t>Detección de cruce.</a:t>
            </a:r>
          </a:p>
          <a:p>
            <a:r>
              <a:rPr lang="es-ES" sz="2400" b="1" dirty="0"/>
              <a:t>Salida:</a:t>
            </a:r>
            <a:r>
              <a:rPr lang="es-ES" sz="2400" dirty="0"/>
              <a:t> </a:t>
            </a:r>
            <a:r>
              <a:rPr lang="es-ES" sz="2400" dirty="0" err="1"/>
              <a:t>frame</a:t>
            </a:r>
            <a:r>
              <a:rPr lang="es-ES" sz="2400" dirty="0"/>
              <a:t> procesado + conteo actualizado.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41B1C7-485A-5213-5458-16E16C526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7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2800FC-48FD-0DB3-F0D8-9930F5E65E9A}"/>
              </a:ext>
            </a:extLst>
          </p:cNvPr>
          <p:cNvSpPr txBox="1"/>
          <p:nvPr/>
        </p:nvSpPr>
        <p:spPr>
          <a:xfrm>
            <a:off x="207706" y="5606506"/>
            <a:ext cx="11984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b="1" dirty="0"/>
              <a:t>Video → YOLOv8 (detección + tracking) → Lógica de conteo → Visualización</a:t>
            </a:r>
          </a:p>
        </p:txBody>
      </p:sp>
    </p:spTree>
    <p:extLst>
      <p:ext uri="{BB962C8B-B14F-4D97-AF65-F5344CB8AC3E}">
        <p14:creationId xmlns:p14="http://schemas.microsoft.com/office/powerpoint/2010/main" val="3653497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1EBC3-CFA7-E50C-4C10-DFBC82043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9" y="112063"/>
            <a:ext cx="1524194" cy="584775"/>
          </a:xfrm>
        </p:spPr>
        <p:txBody>
          <a:bodyPr>
            <a:normAutofit/>
          </a:bodyPr>
          <a:lstStyle/>
          <a:p>
            <a:r>
              <a:rPr lang="es-ES" dirty="0"/>
              <a:t>Dataset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9495E8-0819-5639-01DC-A75953897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326" y="1353676"/>
            <a:ext cx="10911348" cy="4351338"/>
          </a:xfrm>
        </p:spPr>
        <p:txBody>
          <a:bodyPr>
            <a:normAutofit lnSpcReduction="10000"/>
          </a:bodyPr>
          <a:lstStyle/>
          <a:p>
            <a:r>
              <a:rPr lang="es-ES" dirty="0"/>
              <a:t>Utiliza el modelo </a:t>
            </a:r>
            <a:r>
              <a:rPr lang="es-ES" b="1" dirty="0"/>
              <a:t>yolov8m preentrenado</a:t>
            </a:r>
            <a:r>
              <a:rPr lang="es-ES" dirty="0"/>
              <a:t>, que ya contiene datos de:</a:t>
            </a:r>
          </a:p>
          <a:p>
            <a:pPr lvl="1"/>
            <a:r>
              <a:rPr lang="es-ES" dirty="0"/>
              <a:t>Personas</a:t>
            </a:r>
          </a:p>
          <a:p>
            <a:pPr lvl="1"/>
            <a:r>
              <a:rPr lang="es-ES" dirty="0"/>
              <a:t>Autos</a:t>
            </a:r>
          </a:p>
          <a:p>
            <a:pPr lvl="1"/>
            <a:r>
              <a:rPr lang="es-ES" dirty="0"/>
              <a:t>Buses</a:t>
            </a:r>
          </a:p>
          <a:p>
            <a:pPr lvl="1"/>
            <a:r>
              <a:rPr lang="es-ES" dirty="0"/>
              <a:t>Camiones</a:t>
            </a:r>
          </a:p>
          <a:p>
            <a:r>
              <a:rPr lang="es-ES" dirty="0"/>
              <a:t>No requiere entrenamiento adicional.</a:t>
            </a:r>
          </a:p>
          <a:p>
            <a:r>
              <a:rPr lang="es-ES" dirty="0"/>
              <a:t>Clases usadas:</a:t>
            </a:r>
          </a:p>
          <a:p>
            <a:pPr lvl="1"/>
            <a:r>
              <a:rPr lang="es-ES" dirty="0"/>
              <a:t>0 = persona</a:t>
            </a:r>
          </a:p>
          <a:p>
            <a:pPr lvl="1"/>
            <a:r>
              <a:rPr lang="es-ES" dirty="0"/>
              <a:t>2 = auto</a:t>
            </a:r>
          </a:p>
          <a:p>
            <a:pPr lvl="1"/>
            <a:r>
              <a:rPr lang="es-ES" dirty="0"/>
              <a:t>5 = bus</a:t>
            </a:r>
          </a:p>
          <a:p>
            <a:pPr lvl="1"/>
            <a:r>
              <a:rPr lang="es-ES" dirty="0"/>
              <a:t>7 = camión</a:t>
            </a:r>
          </a:p>
          <a:p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30D039-1955-F9E0-0EBF-DAF9D2166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893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1DA84-8C39-06B3-8DBB-040C02BF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Diseño del sistema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C2080-5931-20F6-E7BF-A66D8EA5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9</a:t>
            </a:fld>
            <a:endParaRPr lang="es-CL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AE7E473-85C5-E81B-A3C2-24C4632AA7E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86619" y="1440099"/>
            <a:ext cx="71652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Línea virtual (vertical) usada como referencia.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 registra la posición anterior y actual del objeto.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 cruza la línea de izquierda → derecha → entrada.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 cruza derecha → izquierda → salida (solo personas).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Contadores separados: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L" altLang="es-CL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Personas entrando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L" altLang="es-CL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Personas saliendo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L" altLang="es-CL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Vehículos entrando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24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CE25ECC-FEBB-8C5B-C7A5-3CA530EE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877" y="1142837"/>
            <a:ext cx="4489312" cy="492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28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9E0EAC-2344-AF03-3882-C19E1FEB3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68213" y="3024290"/>
            <a:ext cx="5181600" cy="8094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L" sz="4000" dirty="0"/>
              <a:t>Implementación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DCD043-5D85-E988-A5BC-816A0A63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1041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A8509-0608-AF0D-BED0-A30E3058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Desafíos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CF466A-F68E-F83C-3F08-368589F2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11</a:t>
            </a:fld>
            <a:endParaRPr lang="es-CL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5490553-7849-782A-0D45-73A3470C7AC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893142" y="2116655"/>
            <a:ext cx="5973558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Personas muy juntas → contaba solo 1.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Vehículos grandes → riesgo de ser ignorados.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Necesidad de aumentar FPS.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Estabilidad del seguimiento de </a:t>
            </a:r>
            <a:r>
              <a:rPr kumimoji="0" lang="es-CL" altLang="es-C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IDs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1357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07E5C-3BFE-0103-08AB-F87A381B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Soluciones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773B39-8372-98CD-0ACB-98BF486AE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3387" y="1835457"/>
            <a:ext cx="8831825" cy="2766040"/>
          </a:xfrm>
        </p:spPr>
        <p:txBody>
          <a:bodyPr/>
          <a:lstStyle/>
          <a:p>
            <a:r>
              <a:rPr lang="es-ES" dirty="0"/>
              <a:t>Ajuste de parámetros YOLO (</a:t>
            </a:r>
            <a:r>
              <a:rPr lang="es-ES" dirty="0" err="1"/>
              <a:t>conf</a:t>
            </a:r>
            <a:r>
              <a:rPr lang="es-ES" dirty="0"/>
              <a:t> / </a:t>
            </a:r>
            <a:r>
              <a:rPr lang="es-ES" dirty="0" err="1"/>
              <a:t>iou</a:t>
            </a:r>
            <a:r>
              <a:rPr lang="es-ES" dirty="0"/>
              <a:t>).</a:t>
            </a:r>
          </a:p>
          <a:p>
            <a:r>
              <a:rPr lang="es-ES" dirty="0" err="1"/>
              <a:t>Frame</a:t>
            </a:r>
            <a:r>
              <a:rPr lang="es-ES" dirty="0"/>
              <a:t> </a:t>
            </a:r>
            <a:r>
              <a:rPr lang="es-ES" dirty="0" err="1"/>
              <a:t>skipping</a:t>
            </a:r>
            <a:r>
              <a:rPr lang="es-ES" dirty="0"/>
              <a:t> para acelerar reproducción.</a:t>
            </a:r>
          </a:p>
          <a:p>
            <a:r>
              <a:rPr lang="es-ES" dirty="0"/>
              <a:t>Mejora en filtrado de detecciones pequeñas.</a:t>
            </a:r>
          </a:p>
          <a:p>
            <a:r>
              <a:rPr lang="es-ES" dirty="0"/>
              <a:t>Tracking persistente.</a:t>
            </a:r>
          </a:p>
          <a:p>
            <a:r>
              <a:rPr lang="es-ES" dirty="0"/>
              <a:t>Línea de conteo más estable.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35C77BA-476F-1B94-D88B-F577E664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9286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1B18F6-EA64-9F2D-086C-2322F9626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0" y="3429000"/>
            <a:ext cx="5181600" cy="1291201"/>
          </a:xfrm>
        </p:spPr>
        <p:txBody>
          <a:bodyPr/>
          <a:lstStyle/>
          <a:p>
            <a:pPr marL="0" indent="0" algn="ctr">
              <a:buNone/>
            </a:pPr>
            <a:r>
              <a:rPr lang="es-CL" b="1" dirty="0"/>
              <a:t>DEMO Y RESULTADOS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94A61F-589F-8C9B-96DB-71FF92D7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2990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E5F03-E52F-E850-4828-7196F7DA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9" y="112063"/>
            <a:ext cx="4060916" cy="584775"/>
          </a:xfrm>
        </p:spPr>
        <p:txBody>
          <a:bodyPr/>
          <a:lstStyle/>
          <a:p>
            <a:r>
              <a:rPr lang="es-CL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1858FF-9A95-9056-38DC-21AAC0FDE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619" y="696838"/>
            <a:ext cx="11570110" cy="62466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000" b="1" dirty="0"/>
              <a:t>Logros</a:t>
            </a:r>
          </a:p>
          <a:p>
            <a:pPr lvl="1"/>
            <a:r>
              <a:rPr lang="es-ES" sz="2000" dirty="0"/>
              <a:t>Sistema funcional de conteo con IA.</a:t>
            </a:r>
          </a:p>
          <a:p>
            <a:pPr lvl="1"/>
            <a:r>
              <a:rPr lang="es-ES" sz="2000" dirty="0"/>
              <a:t>Detección en tiempo real con YOLOv8.</a:t>
            </a:r>
          </a:p>
          <a:p>
            <a:pPr lvl="1"/>
            <a:r>
              <a:rPr lang="es-ES" sz="2000" dirty="0"/>
              <a:t>Seguimiento de objetos con </a:t>
            </a:r>
            <a:r>
              <a:rPr lang="es-ES" sz="2000" dirty="0" err="1"/>
              <a:t>IDs</a:t>
            </a:r>
            <a:r>
              <a:rPr lang="es-ES" sz="2000" dirty="0"/>
              <a:t> únicos.</a:t>
            </a:r>
          </a:p>
          <a:p>
            <a:pPr lvl="1"/>
            <a:r>
              <a:rPr lang="es-ES" sz="2000" dirty="0"/>
              <a:t>Conteo por dirección sin sensores físicos.</a:t>
            </a:r>
          </a:p>
          <a:p>
            <a:pPr lvl="1"/>
            <a:r>
              <a:rPr lang="es-ES" sz="2000" dirty="0"/>
              <a:t>Implementación robusta de línea virtual.</a:t>
            </a:r>
            <a:br>
              <a:rPr lang="es-ES" sz="2000" dirty="0"/>
            </a:br>
            <a:endParaRPr lang="es-ES" sz="2000" dirty="0"/>
          </a:p>
          <a:p>
            <a:pPr marL="0" indent="0">
              <a:buNone/>
            </a:pPr>
            <a:r>
              <a:rPr lang="es-ES" sz="2000" b="1" dirty="0"/>
              <a:t>Limitaciones</a:t>
            </a:r>
          </a:p>
          <a:p>
            <a:pPr lvl="1"/>
            <a:r>
              <a:rPr lang="es-ES" sz="2000" dirty="0"/>
              <a:t>Personas muy juntas aún pueden generar errores ocasionales.</a:t>
            </a:r>
          </a:p>
          <a:p>
            <a:pPr lvl="1"/>
            <a:r>
              <a:rPr lang="es-ES" sz="2000" dirty="0"/>
              <a:t>Sensibilidad depende de la calidad del video.</a:t>
            </a:r>
          </a:p>
          <a:p>
            <a:pPr lvl="1"/>
            <a:r>
              <a:rPr lang="es-ES" sz="2000" dirty="0"/>
              <a:t>Vehículos parcialmente fuera del cuadro pueden no contarse.</a:t>
            </a:r>
            <a:br>
              <a:rPr lang="es-ES" sz="2000" dirty="0"/>
            </a:br>
            <a:endParaRPr lang="es-ES" sz="2000" dirty="0"/>
          </a:p>
          <a:p>
            <a:pPr marL="0" indent="0">
              <a:buNone/>
            </a:pPr>
            <a:r>
              <a:rPr lang="es-ES" sz="2000" b="1" dirty="0"/>
              <a:t>Trabajo futuro</a:t>
            </a:r>
          </a:p>
          <a:p>
            <a:pPr lvl="1"/>
            <a:r>
              <a:rPr lang="es-ES" sz="2000" dirty="0"/>
              <a:t>Reemplazar </a:t>
            </a:r>
            <a:r>
              <a:rPr lang="es-ES" sz="2000" dirty="0" err="1"/>
              <a:t>bounding</a:t>
            </a:r>
            <a:r>
              <a:rPr lang="es-ES" sz="2000" dirty="0"/>
              <a:t> box por segmentación (mejor precisión).</a:t>
            </a:r>
          </a:p>
          <a:p>
            <a:pPr lvl="1"/>
            <a:r>
              <a:rPr lang="es-ES" sz="2000" dirty="0"/>
              <a:t>Entrenar un modelo propio para escenas específicas.</a:t>
            </a:r>
          </a:p>
          <a:p>
            <a:pPr lvl="1"/>
            <a:r>
              <a:rPr lang="es-ES" sz="2000" dirty="0"/>
              <a:t>Integrar conteo en tiempo real con una base de datos.</a:t>
            </a:r>
          </a:p>
          <a:p>
            <a:pPr lvl="1"/>
            <a:r>
              <a:rPr lang="es-ES" sz="2000" dirty="0"/>
              <a:t>Enviar estadísticas a un dashboard web.</a:t>
            </a:r>
          </a:p>
          <a:p>
            <a:pPr lvl="1"/>
            <a:r>
              <a:rPr lang="es-ES" sz="2000" dirty="0"/>
              <a:t>Añadir sistema </a:t>
            </a:r>
            <a:r>
              <a:rPr lang="es-ES" sz="2000" dirty="0" err="1"/>
              <a:t>anti-repetición</a:t>
            </a:r>
            <a:r>
              <a:rPr lang="es-ES" sz="2000" dirty="0"/>
              <a:t> basado en distancia.</a:t>
            </a:r>
          </a:p>
          <a:p>
            <a:endParaRPr lang="es-CL" sz="20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D7C4CB-7FB6-4F08-B2CF-56828C951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8F51-709F-42A5-9873-6CB97C6EAF58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27666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DIO_ID" val="546"/>
  <p:tag name="ARTICULATE_USED_LAYOUT" val="2"/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6c0caf-f919-4011-8266-3e029b9aa10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5781E67F02ACF458808740F223568CF" ma:contentTypeVersion="8" ma:contentTypeDescription="Crear nuevo documento." ma:contentTypeScope="" ma:versionID="5db2fe1f56afbecd39d9b7c4dea8019e">
  <xsd:schema xmlns:xsd="http://www.w3.org/2001/XMLSchema" xmlns:xs="http://www.w3.org/2001/XMLSchema" xmlns:p="http://schemas.microsoft.com/office/2006/metadata/properties" xmlns:ns3="ef6c0caf-f919-4011-8266-3e029b9aa101" targetNamespace="http://schemas.microsoft.com/office/2006/metadata/properties" ma:root="true" ma:fieldsID="a2617be02bb52974d567c497feb25f0b" ns3:_="">
    <xsd:import namespace="ef6c0caf-f919-4011-8266-3e029b9aa1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6c0caf-f919-4011-8266-3e029b9aa1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58A91F-261F-4647-8DA6-8B71E48A2D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BEFA4F-9607-483C-BE2C-32C5C5B70B2D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ef6c0caf-f919-4011-8266-3e029b9aa101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E5F6D7F-C913-4247-91E0-BD3814B641E6}">
  <ds:schemaRefs>
    <ds:schemaRef ds:uri="ef6c0caf-f919-4011-8266-3e029b9aa1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1883</TotalTime>
  <Words>553</Words>
  <Application>Microsoft Office PowerPoint</Application>
  <PresentationFormat>Panorámica</PresentationFormat>
  <Paragraphs>104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Tema de Office</vt:lpstr>
      <vt:lpstr>Presentación de PowerPoint</vt:lpstr>
      <vt:lpstr>Introducción</vt:lpstr>
      <vt:lpstr>Problema</vt:lpstr>
      <vt:lpstr>Motivación</vt:lpstr>
      <vt:lpstr>Objetivos</vt:lpstr>
      <vt:lpstr>PARTE TÉCNICA</vt:lpstr>
      <vt:lpstr>Arquitectura</vt:lpstr>
      <vt:lpstr>Dataset</vt:lpstr>
      <vt:lpstr>Diseño del sistema</vt:lpstr>
      <vt:lpstr>Presentación de PowerPoint</vt:lpstr>
      <vt:lpstr>Desafíos</vt:lpstr>
      <vt:lpstr>Soluciones</vt:lpstr>
      <vt:lpstr>Presentación de PowerPoint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Claudia Fehring Dorner | U.Mayor</dc:creator>
  <cp:lastModifiedBy>EDWIN ENRRIQUE MOYA SOSA</cp:lastModifiedBy>
  <cp:revision>14</cp:revision>
  <dcterms:created xsi:type="dcterms:W3CDTF">2022-01-11T11:07:00Z</dcterms:created>
  <dcterms:modified xsi:type="dcterms:W3CDTF">2025-12-04T17:49:20Z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0x010100A5781E67F02ACF458808740F223568CF</vt:lpwstr>
  </property>
</Properties>
</file>